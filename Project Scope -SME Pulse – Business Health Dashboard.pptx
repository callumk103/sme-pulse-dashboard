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Lst>
  <p:sldSz cx="10058400" cy="7772400"/>
  <p:notesSz cx="6858000" cy="9144000"/>
  <p:defaultTextStyle>
    <a:defPPr>
      <a:defRPr lang="en-US"/>
    </a:defPPr>
    <a:lvl1pPr marL="0" algn="l" defTabSz="509412" rtl="0" eaLnBrk="1" latinLnBrk="0" hangingPunct="1">
      <a:defRPr sz="2000" kern="1200">
        <a:solidFill>
          <a:schemeClr val="tx1"/>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5C52"/>
    <a:srgbClr val="5C5C5C"/>
    <a:srgbClr val="393939"/>
    <a:srgbClr val="565656"/>
    <a:srgbClr val="4A4A4A"/>
    <a:srgbClr val="E0E0E0"/>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568" autoAdjust="0"/>
  </p:normalViewPr>
  <p:slideViewPr>
    <p:cSldViewPr snapToGrid="0" snapToObjects="1">
      <p:cViewPr>
        <p:scale>
          <a:sx n="90" d="100"/>
          <a:sy n="90" d="100"/>
        </p:scale>
        <p:origin x="1956" y="66"/>
      </p:cViewPr>
      <p:guideLst>
        <p:guide orient="horz" pos="2448"/>
        <p:guide pos="31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oject Scope Template">
    <p:spTree>
      <p:nvGrpSpPr>
        <p:cNvPr id="1" name=""/>
        <p:cNvGrpSpPr/>
        <p:nvPr/>
      </p:nvGrpSpPr>
      <p:grpSpPr>
        <a:xfrm>
          <a:off x="0" y="0"/>
          <a:ext cx="0" cy="0"/>
          <a:chOff x="0" y="0"/>
          <a:chExt cx="0" cy="0"/>
        </a:xfrm>
      </p:grpSpPr>
      <p:sp>
        <p:nvSpPr>
          <p:cNvPr id="8" name="TextBox 7"/>
          <p:cNvSpPr txBox="1"/>
          <p:nvPr userDrawn="1"/>
        </p:nvSpPr>
        <p:spPr>
          <a:xfrm>
            <a:off x="281826" y="245599"/>
            <a:ext cx="1688604" cy="261610"/>
          </a:xfrm>
          <a:prstGeom prst="rect">
            <a:avLst/>
          </a:prstGeom>
          <a:noFill/>
        </p:spPr>
        <p:txBody>
          <a:bodyPr wrap="none" rtlCol="0">
            <a:spAutoFit/>
          </a:bodyPr>
          <a:lstStyle/>
          <a:p>
            <a:r>
              <a:rPr lang="en-US" sz="1100" b="0" i="0" spc="20" dirty="0">
                <a:solidFill>
                  <a:srgbClr val="5C5C5C"/>
                </a:solidFill>
                <a:latin typeface="Lato Light" charset="0"/>
                <a:ea typeface="Lato Light" charset="0"/>
                <a:cs typeface="Lato Light" charset="0"/>
              </a:rPr>
              <a:t>Project</a:t>
            </a:r>
            <a:r>
              <a:rPr lang="en-US" sz="1100" b="0" i="0" spc="20" baseline="0" dirty="0">
                <a:solidFill>
                  <a:srgbClr val="5C5C5C"/>
                </a:solidFill>
                <a:latin typeface="Lato Light" charset="0"/>
                <a:ea typeface="Lato Light" charset="0"/>
                <a:cs typeface="Lato Light" charset="0"/>
              </a:rPr>
              <a:t> Scope Template</a:t>
            </a:r>
            <a:endParaRPr lang="en-US" sz="1100" b="0" i="0" spc="20" dirty="0">
              <a:latin typeface="Lato Light" charset="0"/>
              <a:ea typeface="Lato Light" charset="0"/>
              <a:cs typeface="Lato Light" charset="0"/>
            </a:endParaRPr>
          </a:p>
        </p:txBody>
      </p:sp>
      <p:cxnSp>
        <p:nvCxnSpPr>
          <p:cNvPr id="10" name="Straight Connector 9"/>
          <p:cNvCxnSpPr/>
          <p:nvPr userDrawn="1"/>
        </p:nvCxnSpPr>
        <p:spPr>
          <a:xfrm>
            <a:off x="327546" y="650546"/>
            <a:ext cx="9385111" cy="0"/>
          </a:xfrm>
          <a:prstGeom prst="line">
            <a:avLst/>
          </a:prstGeom>
          <a:ln w="9525">
            <a:solidFill>
              <a:srgbClr val="E0E0E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405113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Project Scope Example">
    <p:spTree>
      <p:nvGrpSpPr>
        <p:cNvPr id="1" name=""/>
        <p:cNvGrpSpPr/>
        <p:nvPr/>
      </p:nvGrpSpPr>
      <p:grpSpPr>
        <a:xfrm>
          <a:off x="0" y="0"/>
          <a:ext cx="0" cy="0"/>
          <a:chOff x="0" y="0"/>
          <a:chExt cx="0" cy="0"/>
        </a:xfrm>
      </p:grpSpPr>
      <p:sp>
        <p:nvSpPr>
          <p:cNvPr id="2" name="Title 1"/>
          <p:cNvSpPr>
            <a:spLocks noGrp="1"/>
          </p:cNvSpPr>
          <p:nvPr>
            <p:ph type="title"/>
          </p:nvPr>
        </p:nvSpPr>
        <p:spPr>
          <a:xfrm>
            <a:off x="502920" y="311256"/>
            <a:ext cx="9052560" cy="12954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02920" y="1813560"/>
            <a:ext cx="9052560" cy="51294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a:xfrm>
            <a:off x="194239" y="82178"/>
            <a:ext cx="9764240" cy="735123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TextBox 7"/>
          <p:cNvSpPr txBox="1"/>
          <p:nvPr userDrawn="1"/>
        </p:nvSpPr>
        <p:spPr>
          <a:xfrm>
            <a:off x="281826" y="245599"/>
            <a:ext cx="1629933" cy="261610"/>
          </a:xfrm>
          <a:prstGeom prst="rect">
            <a:avLst/>
          </a:prstGeom>
          <a:noFill/>
        </p:spPr>
        <p:txBody>
          <a:bodyPr wrap="none" rtlCol="0">
            <a:spAutoFit/>
          </a:bodyPr>
          <a:lstStyle/>
          <a:p>
            <a:r>
              <a:rPr lang="en-US" sz="1100" b="0" i="0" spc="20" dirty="0">
                <a:solidFill>
                  <a:srgbClr val="5C5C5C"/>
                </a:solidFill>
                <a:latin typeface="Lato Light" charset="0"/>
                <a:ea typeface="Lato Light" charset="0"/>
                <a:cs typeface="Lato Light" charset="0"/>
              </a:rPr>
              <a:t>Project</a:t>
            </a:r>
            <a:r>
              <a:rPr lang="en-US" sz="1100" b="0" i="0" spc="20" baseline="0" dirty="0">
                <a:solidFill>
                  <a:srgbClr val="5C5C5C"/>
                </a:solidFill>
                <a:latin typeface="Lato Light" charset="0"/>
                <a:ea typeface="Lato Light" charset="0"/>
                <a:cs typeface="Lato Light" charset="0"/>
              </a:rPr>
              <a:t> Scope Example</a:t>
            </a:r>
            <a:endParaRPr lang="en-US" sz="1100" b="0" i="0" spc="20" dirty="0">
              <a:latin typeface="Lato Light" charset="0"/>
              <a:ea typeface="Lato Light" charset="0"/>
              <a:cs typeface="Lato Light" charset="0"/>
            </a:endParaRPr>
          </a:p>
        </p:txBody>
      </p:sp>
      <p:cxnSp>
        <p:nvCxnSpPr>
          <p:cNvPr id="9" name="Straight Connector 8"/>
          <p:cNvCxnSpPr/>
          <p:nvPr userDrawn="1"/>
        </p:nvCxnSpPr>
        <p:spPr>
          <a:xfrm>
            <a:off x="327546" y="650546"/>
            <a:ext cx="9385111" cy="0"/>
          </a:xfrm>
          <a:prstGeom prst="line">
            <a:avLst/>
          </a:prstGeom>
          <a:ln w="9525">
            <a:solidFill>
              <a:srgbClr val="E0E0E0"/>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3672109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771221"/>
      </p:ext>
    </p:extLst>
  </p:cSld>
  <p:clrMap bg1="lt1" tx1="dk1" bg2="lt2" tx2="dk2" accent1="accent1" accent2="accent2" accent3="accent3" accent4="accent4" accent5="accent5" accent6="accent6" hlink="hlink" folHlink="folHlink"/>
  <p:sldLayoutIdLst>
    <p:sldLayoutId id="2147483651" r:id="rId1"/>
    <p:sldLayoutId id="2147483650" r:id="rId2"/>
  </p:sldLayoutIdLst>
  <p:txStyles>
    <p:titleStyle>
      <a:lvl1pPr algn="ctr" defTabSz="509412" rtl="0" eaLnBrk="1" latinLnBrk="0" hangingPunct="1">
        <a:spcBef>
          <a:spcPct val="0"/>
        </a:spcBef>
        <a:buNone/>
        <a:defRPr sz="4900" kern="1200">
          <a:solidFill>
            <a:schemeClr val="tx1"/>
          </a:solidFill>
          <a:latin typeface="+mj-lt"/>
          <a:ea typeface="+mj-ea"/>
          <a:cs typeface="+mj-cs"/>
        </a:defRPr>
      </a:lvl1pPr>
    </p:titleStyle>
    <p:bodyStyle>
      <a:lvl1pPr marL="382059" indent="-382059" algn="l" defTabSz="509412" rtl="0" eaLnBrk="1" latinLnBrk="0" hangingPunct="1">
        <a:spcBef>
          <a:spcPct val="20000"/>
        </a:spcBef>
        <a:buFont typeface="Arial"/>
        <a:buChar char="•"/>
        <a:defRPr sz="3600" kern="1200">
          <a:solidFill>
            <a:schemeClr val="tx1"/>
          </a:solidFill>
          <a:latin typeface="+mn-lt"/>
          <a:ea typeface="+mn-ea"/>
          <a:cs typeface="+mn-cs"/>
        </a:defRPr>
      </a:lvl1pPr>
      <a:lvl2pPr marL="827795" indent="-318383" algn="l" defTabSz="509412" rtl="0" eaLnBrk="1" latinLnBrk="0" hangingPunct="1">
        <a:spcBef>
          <a:spcPct val="20000"/>
        </a:spcBef>
        <a:buFont typeface="Arial"/>
        <a:buChar char="–"/>
        <a:defRPr sz="3100" kern="1200">
          <a:solidFill>
            <a:schemeClr val="tx1"/>
          </a:solidFill>
          <a:latin typeface="+mn-lt"/>
          <a:ea typeface="+mn-ea"/>
          <a:cs typeface="+mn-cs"/>
        </a:defRPr>
      </a:lvl2pPr>
      <a:lvl3pPr marL="1273531" indent="-254706" algn="l" defTabSz="509412" rtl="0" eaLnBrk="1" latinLnBrk="0" hangingPunct="1">
        <a:spcBef>
          <a:spcPct val="20000"/>
        </a:spcBef>
        <a:buFont typeface="Arial"/>
        <a:buChar char="•"/>
        <a:defRPr sz="2700" kern="1200">
          <a:solidFill>
            <a:schemeClr val="tx1"/>
          </a:solidFill>
          <a:latin typeface="+mn-lt"/>
          <a:ea typeface="+mn-ea"/>
          <a:cs typeface="+mn-cs"/>
        </a:defRPr>
      </a:lvl3pPr>
      <a:lvl4pPr marL="1782943" indent="-254706" algn="l" defTabSz="509412" rtl="0" eaLnBrk="1" latinLnBrk="0" hangingPunct="1">
        <a:spcBef>
          <a:spcPct val="20000"/>
        </a:spcBef>
        <a:buFont typeface="Arial"/>
        <a:buChar char="–"/>
        <a:defRPr sz="2200" kern="1200">
          <a:solidFill>
            <a:schemeClr val="tx1"/>
          </a:solidFill>
          <a:latin typeface="+mn-lt"/>
          <a:ea typeface="+mn-ea"/>
          <a:cs typeface="+mn-cs"/>
        </a:defRPr>
      </a:lvl4pPr>
      <a:lvl5pPr marL="2292355" indent="-254706" algn="l" defTabSz="509412" rtl="0" eaLnBrk="1" latinLnBrk="0" hangingPunct="1">
        <a:spcBef>
          <a:spcPct val="20000"/>
        </a:spcBef>
        <a:buFont typeface="Arial"/>
        <a:buChar char="»"/>
        <a:defRPr sz="2200" kern="1200">
          <a:solidFill>
            <a:schemeClr val="tx1"/>
          </a:solidFill>
          <a:latin typeface="+mn-lt"/>
          <a:ea typeface="+mn-ea"/>
          <a:cs typeface="+mn-cs"/>
        </a:defRPr>
      </a:lvl5pPr>
      <a:lvl6pPr marL="2801767" indent="-254706" algn="l" defTabSz="509412" rtl="0" eaLnBrk="1" latinLnBrk="0" hangingPunct="1">
        <a:spcBef>
          <a:spcPct val="20000"/>
        </a:spcBef>
        <a:buFont typeface="Arial"/>
        <a:buChar char="•"/>
        <a:defRPr sz="2200" kern="1200">
          <a:solidFill>
            <a:schemeClr val="tx1"/>
          </a:solidFill>
          <a:latin typeface="+mn-lt"/>
          <a:ea typeface="+mn-ea"/>
          <a:cs typeface="+mn-cs"/>
        </a:defRPr>
      </a:lvl6pPr>
      <a:lvl7pPr marL="3311180" indent="-254706" algn="l" defTabSz="509412" rtl="0" eaLnBrk="1" latinLnBrk="0" hangingPunct="1">
        <a:spcBef>
          <a:spcPct val="20000"/>
        </a:spcBef>
        <a:buFont typeface="Arial"/>
        <a:buChar char="•"/>
        <a:defRPr sz="2200" kern="1200">
          <a:solidFill>
            <a:schemeClr val="tx1"/>
          </a:solidFill>
          <a:latin typeface="+mn-lt"/>
          <a:ea typeface="+mn-ea"/>
          <a:cs typeface="+mn-cs"/>
        </a:defRPr>
      </a:lvl7pPr>
      <a:lvl8pPr marL="3820592" indent="-254706" algn="l" defTabSz="509412" rtl="0" eaLnBrk="1" latinLnBrk="0" hangingPunct="1">
        <a:spcBef>
          <a:spcPct val="20000"/>
        </a:spcBef>
        <a:buFont typeface="Arial"/>
        <a:buChar char="•"/>
        <a:defRPr sz="2200" kern="1200">
          <a:solidFill>
            <a:schemeClr val="tx1"/>
          </a:solidFill>
          <a:latin typeface="+mn-lt"/>
          <a:ea typeface="+mn-ea"/>
          <a:cs typeface="+mn-cs"/>
        </a:defRPr>
      </a:lvl8pPr>
      <a:lvl9pPr marL="4330004" indent="-254706" algn="l" defTabSz="509412"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9412" rtl="0" eaLnBrk="1" latinLnBrk="0" hangingPunct="1">
        <a:defRPr sz="2000" kern="1200">
          <a:solidFill>
            <a:schemeClr val="tx1"/>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p:cNvSpPr txBox="1">
            <a:spLocks/>
          </p:cNvSpPr>
          <p:nvPr/>
        </p:nvSpPr>
        <p:spPr>
          <a:xfrm>
            <a:off x="502920" y="819284"/>
            <a:ext cx="9052560" cy="979498"/>
          </a:xfrm>
          <a:prstGeom prst="rect">
            <a:avLst/>
          </a:prstGeom>
          <a:ln>
            <a:noFill/>
          </a:ln>
        </p:spPr>
        <p:txBody>
          <a:bodyPr vert="horz" lIns="100584" tIns="50941" rIns="101882" bIns="50941" rtlCol="0" anchor="ctr">
            <a:normAutofit/>
          </a:bodyPr>
          <a:lstStyle>
            <a:lvl1pPr algn="ctr" defTabSz="509412" rtl="0" eaLnBrk="1" latinLnBrk="0" hangingPunct="1">
              <a:spcBef>
                <a:spcPct val="0"/>
              </a:spcBef>
              <a:buNone/>
              <a:defRPr sz="2500" b="1" i="0" kern="1200" baseline="0">
                <a:solidFill>
                  <a:srgbClr val="4A4A4A"/>
                </a:solidFill>
                <a:latin typeface="Lato" charset="0"/>
                <a:ea typeface="Lato" charset="0"/>
                <a:cs typeface="Lato" charset="0"/>
              </a:defRPr>
            </a:lvl1pPr>
          </a:lstStyle>
          <a:p>
            <a:r>
              <a:rPr lang="en-US" dirty="0"/>
              <a:t>SME Pulse – Business Health Dashboard</a:t>
            </a:r>
          </a:p>
        </p:txBody>
      </p:sp>
      <p:sp>
        <p:nvSpPr>
          <p:cNvPr id="5" name="TextBox 4"/>
          <p:cNvSpPr txBox="1"/>
          <p:nvPr/>
        </p:nvSpPr>
        <p:spPr>
          <a:xfrm>
            <a:off x="337267" y="2628510"/>
            <a:ext cx="4389120" cy="1926681"/>
          </a:xfrm>
          <a:prstGeom prst="rect">
            <a:avLst/>
          </a:prstGeom>
          <a:noFill/>
        </p:spPr>
        <p:txBody>
          <a:bodyPr wrap="square" rtlCol="0">
            <a:spAutoFit/>
          </a:bodyPr>
          <a:lstStyle/>
          <a:p>
            <a:pPr>
              <a:lnSpc>
                <a:spcPct val="120000"/>
              </a:lnSpc>
              <a:buClr>
                <a:srgbClr val="FF0000"/>
              </a:buClr>
            </a:pPr>
            <a:r>
              <a:rPr lang="en-US" sz="1000" dirty="0">
                <a:solidFill>
                  <a:srgbClr val="565656"/>
                </a:solidFill>
                <a:latin typeface="Calibri Light"/>
                <a:cs typeface="Calibri Light"/>
              </a:rPr>
              <a:t>The purpose of this project is to design and build a functioning prototype of SME pulse, a business health dashboard that enables small and medium sized businesses (SMEs) to easily understand, monitor and improve their business performance.</a:t>
            </a:r>
          </a:p>
          <a:p>
            <a:pPr>
              <a:lnSpc>
                <a:spcPct val="120000"/>
              </a:lnSpc>
              <a:buClr>
                <a:srgbClr val="FF0000"/>
              </a:buClr>
            </a:pPr>
            <a:r>
              <a:rPr lang="en-US" sz="1000" dirty="0">
                <a:solidFill>
                  <a:srgbClr val="565656"/>
                </a:solidFill>
                <a:latin typeface="Calibri Light"/>
                <a:cs typeface="Calibri Light"/>
              </a:rPr>
              <a:t>SME Pulse aims to give users a high level, visual summary of KPI,s like cash flow status, trends in revenue, cost structures and financial risk warnings. The program will attempt to transform SME decision making from emergencies to planned performance improvement. SME pulse will intend to improve FunTechs existing SME software by looking into financial performance analysis tools for non – financial managers.</a:t>
            </a:r>
          </a:p>
        </p:txBody>
      </p:sp>
      <p:sp>
        <p:nvSpPr>
          <p:cNvPr id="6" name="TextBox 5"/>
          <p:cNvSpPr txBox="1"/>
          <p:nvPr/>
        </p:nvSpPr>
        <p:spPr>
          <a:xfrm>
            <a:off x="167146" y="4902156"/>
            <a:ext cx="4389120" cy="1742015"/>
          </a:xfrm>
          <a:prstGeom prst="rect">
            <a:avLst/>
          </a:prstGeom>
          <a:noFill/>
        </p:spPr>
        <p:txBody>
          <a:bodyPr wrap="square" rtlCol="0">
            <a:spAutoFit/>
          </a:bodyPr>
          <a:lstStyle/>
          <a:p>
            <a:pPr>
              <a:lnSpc>
                <a:spcPct val="120000"/>
              </a:lnSpc>
              <a:buClr>
                <a:srgbClr val="FF0000"/>
              </a:buClr>
            </a:pPr>
            <a:r>
              <a:rPr lang="en-US" sz="1000" dirty="0">
                <a:solidFill>
                  <a:srgbClr val="565656"/>
                </a:solidFill>
                <a:latin typeface="Calibri Light"/>
                <a:cs typeface="Calibri Light"/>
              </a:rPr>
              <a:t>Provide a digital company performance management system allowing quick adoption by SME owners across multiple industries like retail, hotel, fitness and professional services. The application will focus on the following:</a:t>
            </a:r>
          </a:p>
          <a:p>
            <a:pPr marL="171450" indent="-171450">
              <a:lnSpc>
                <a:spcPct val="120000"/>
              </a:lnSpc>
              <a:buClr>
                <a:srgbClr val="FF0000"/>
              </a:buClr>
              <a:buFont typeface="Arial" panose="020B0604020202020204" pitchFamily="34" charset="0"/>
              <a:buChar char="•"/>
            </a:pPr>
            <a:r>
              <a:rPr lang="en-US" sz="1000" dirty="0">
                <a:solidFill>
                  <a:srgbClr val="565656"/>
                </a:solidFill>
                <a:latin typeface="Calibri Light"/>
                <a:cs typeface="Calibri Light"/>
              </a:rPr>
              <a:t>Cash flow overview dashboard</a:t>
            </a:r>
          </a:p>
          <a:p>
            <a:pPr marL="171450" indent="-171450">
              <a:lnSpc>
                <a:spcPct val="120000"/>
              </a:lnSpc>
              <a:buClr>
                <a:srgbClr val="FF0000"/>
              </a:buClr>
              <a:buFont typeface="Arial" panose="020B0604020202020204" pitchFamily="34" charset="0"/>
              <a:buChar char="•"/>
            </a:pPr>
            <a:r>
              <a:rPr lang="en-US" sz="1000" dirty="0">
                <a:solidFill>
                  <a:srgbClr val="565656"/>
                </a:solidFill>
                <a:latin typeface="Calibri Light"/>
                <a:cs typeface="Calibri Light"/>
              </a:rPr>
              <a:t>Visualisations of revenue trends</a:t>
            </a:r>
          </a:p>
          <a:p>
            <a:pPr marL="171450" indent="-171450">
              <a:lnSpc>
                <a:spcPct val="120000"/>
              </a:lnSpc>
              <a:buClr>
                <a:srgbClr val="FF0000"/>
              </a:buClr>
              <a:buFont typeface="Arial" panose="020B0604020202020204" pitchFamily="34" charset="0"/>
              <a:buChar char="•"/>
            </a:pPr>
            <a:r>
              <a:rPr lang="en-US" sz="1000" dirty="0">
                <a:solidFill>
                  <a:srgbClr val="565656"/>
                </a:solidFill>
                <a:latin typeface="Calibri Light"/>
                <a:cs typeface="Calibri Light"/>
              </a:rPr>
              <a:t>Alerts of performance risks</a:t>
            </a:r>
          </a:p>
          <a:p>
            <a:pPr marL="171450" indent="-171450">
              <a:lnSpc>
                <a:spcPct val="120000"/>
              </a:lnSpc>
              <a:buClr>
                <a:srgbClr val="FF0000"/>
              </a:buClr>
              <a:buFont typeface="Arial" panose="020B0604020202020204" pitchFamily="34" charset="0"/>
              <a:buChar char="•"/>
            </a:pPr>
            <a:r>
              <a:rPr lang="en-US" sz="1000" dirty="0">
                <a:solidFill>
                  <a:srgbClr val="565656"/>
                </a:solidFill>
                <a:latin typeface="Calibri Light"/>
                <a:cs typeface="Calibri Light"/>
              </a:rPr>
              <a:t>User logins and dashboard interface</a:t>
            </a:r>
          </a:p>
          <a:p>
            <a:pPr marL="171450" indent="-171450">
              <a:lnSpc>
                <a:spcPct val="120000"/>
              </a:lnSpc>
              <a:buClr>
                <a:srgbClr val="FF0000"/>
              </a:buClr>
              <a:buFont typeface="Arial" panose="020B0604020202020204" pitchFamily="34" charset="0"/>
              <a:buChar char="•"/>
            </a:pPr>
            <a:r>
              <a:rPr lang="en-US" sz="1000" dirty="0">
                <a:solidFill>
                  <a:srgbClr val="565656"/>
                </a:solidFill>
                <a:latin typeface="Calibri Light"/>
                <a:cs typeface="Calibri Light"/>
              </a:rPr>
              <a:t>Financial Health Indicators</a:t>
            </a:r>
          </a:p>
          <a:p>
            <a:pPr marL="171450" indent="-171450">
              <a:lnSpc>
                <a:spcPct val="120000"/>
              </a:lnSpc>
              <a:buClr>
                <a:srgbClr val="FF0000"/>
              </a:buClr>
              <a:buFont typeface="Arial" panose="020B0604020202020204" pitchFamily="34" charset="0"/>
              <a:buChar char="•"/>
            </a:pPr>
            <a:r>
              <a:rPr lang="en-US" sz="1000" dirty="0">
                <a:solidFill>
                  <a:srgbClr val="565656"/>
                </a:solidFill>
                <a:latin typeface="Calibri Light"/>
                <a:cs typeface="Calibri Light"/>
              </a:rPr>
              <a:t>Clickable functional prototype</a:t>
            </a:r>
          </a:p>
        </p:txBody>
      </p:sp>
      <p:sp>
        <p:nvSpPr>
          <p:cNvPr id="8" name="TextBox 7"/>
          <p:cNvSpPr txBox="1"/>
          <p:nvPr/>
        </p:nvSpPr>
        <p:spPr>
          <a:xfrm>
            <a:off x="254467" y="6759844"/>
            <a:ext cx="4389120" cy="1188018"/>
          </a:xfrm>
          <a:prstGeom prst="rect">
            <a:avLst/>
          </a:prstGeom>
          <a:noFill/>
        </p:spPr>
        <p:txBody>
          <a:bodyPr wrap="square" rtlCol="0">
            <a:spAutoFit/>
          </a:bodyPr>
          <a:lstStyle/>
          <a:p>
            <a:pPr marL="171450" marR="0" lvl="0" indent="-171450" defTabSz="914400" eaLnBrk="1" fontAlgn="auto" latinLnBrk="0" hangingPunct="1">
              <a:lnSpc>
                <a:spcPct val="120000"/>
              </a:lnSpc>
              <a:spcBef>
                <a:spcPts val="0"/>
              </a:spcBef>
              <a:spcAft>
                <a:spcPts val="0"/>
              </a:spcAft>
              <a:buClr>
                <a:srgbClr val="FF0000"/>
              </a:buClr>
              <a:buSzTx/>
              <a:buFont typeface="Arial" panose="020B0604020202020204" pitchFamily="34" charset="0"/>
              <a:buChar char="•"/>
              <a:defRPr/>
            </a:pPr>
            <a:r>
              <a:rPr lang="en-US" sz="1000" dirty="0">
                <a:solidFill>
                  <a:srgbClr val="565656"/>
                </a:solidFill>
                <a:latin typeface="Calibri Light"/>
                <a:cs typeface="Calibri Light"/>
              </a:rPr>
              <a:t>SME Owners                           </a:t>
            </a:r>
          </a:p>
          <a:p>
            <a:pPr marL="171450" marR="0" lvl="0" indent="-171450" defTabSz="914400" eaLnBrk="1" fontAlgn="auto" latinLnBrk="0" hangingPunct="1">
              <a:lnSpc>
                <a:spcPct val="120000"/>
              </a:lnSpc>
              <a:spcBef>
                <a:spcPts val="0"/>
              </a:spcBef>
              <a:spcAft>
                <a:spcPts val="0"/>
              </a:spcAft>
              <a:buClr>
                <a:srgbClr val="FF0000"/>
              </a:buClr>
              <a:buSzTx/>
              <a:buFont typeface="Arial" panose="020B0604020202020204" pitchFamily="34" charset="0"/>
              <a:buChar char="•"/>
              <a:defRPr/>
            </a:pPr>
            <a:r>
              <a:rPr lang="en-US" sz="1000" dirty="0">
                <a:solidFill>
                  <a:srgbClr val="565656"/>
                </a:solidFill>
                <a:latin typeface="Calibri Light"/>
                <a:cs typeface="Calibri Light"/>
              </a:rPr>
              <a:t>SME Managers</a:t>
            </a:r>
          </a:p>
          <a:p>
            <a:pPr marL="171450" marR="0" lvl="0" indent="-171450" defTabSz="914400" eaLnBrk="1" fontAlgn="auto" latinLnBrk="0" hangingPunct="1">
              <a:lnSpc>
                <a:spcPct val="120000"/>
              </a:lnSpc>
              <a:spcBef>
                <a:spcPts val="0"/>
              </a:spcBef>
              <a:spcAft>
                <a:spcPts val="0"/>
              </a:spcAft>
              <a:buClr>
                <a:srgbClr val="FF0000"/>
              </a:buClr>
              <a:buSzTx/>
              <a:buFont typeface="Arial" panose="020B0604020202020204" pitchFamily="34" charset="0"/>
              <a:buChar char="•"/>
              <a:defRPr/>
            </a:pPr>
            <a:r>
              <a:rPr lang="en-US" sz="1000" dirty="0">
                <a:solidFill>
                  <a:srgbClr val="565656"/>
                </a:solidFill>
                <a:latin typeface="Calibri Light"/>
                <a:cs typeface="Calibri Light"/>
              </a:rPr>
              <a:t>Accountants</a:t>
            </a:r>
          </a:p>
          <a:p>
            <a:pPr marL="171450" marR="0" lvl="0" indent="-171450" defTabSz="914400" eaLnBrk="1" fontAlgn="auto" latinLnBrk="0" hangingPunct="1">
              <a:lnSpc>
                <a:spcPct val="120000"/>
              </a:lnSpc>
              <a:spcBef>
                <a:spcPts val="0"/>
              </a:spcBef>
              <a:spcAft>
                <a:spcPts val="0"/>
              </a:spcAft>
              <a:buClr>
                <a:srgbClr val="FF0000"/>
              </a:buClr>
              <a:buSzTx/>
              <a:buFont typeface="Arial" panose="020B0604020202020204" pitchFamily="34" charset="0"/>
              <a:buChar char="•"/>
              <a:defRPr/>
            </a:pPr>
            <a:r>
              <a:rPr lang="en-US" sz="1000" dirty="0">
                <a:solidFill>
                  <a:srgbClr val="565656"/>
                </a:solidFill>
                <a:latin typeface="Calibri Light"/>
                <a:cs typeface="Calibri Light"/>
              </a:rPr>
              <a:t>FunTech Management</a:t>
            </a:r>
          </a:p>
          <a:p>
            <a:pPr marL="171450" marR="0" lvl="0" indent="-171450" defTabSz="914400" eaLnBrk="1" fontAlgn="auto" latinLnBrk="0" hangingPunct="1">
              <a:lnSpc>
                <a:spcPct val="120000"/>
              </a:lnSpc>
              <a:spcBef>
                <a:spcPts val="0"/>
              </a:spcBef>
              <a:spcAft>
                <a:spcPts val="0"/>
              </a:spcAft>
              <a:buClr>
                <a:srgbClr val="FF0000"/>
              </a:buClr>
              <a:buSzTx/>
              <a:buFont typeface="Arial" panose="020B0604020202020204" pitchFamily="34" charset="0"/>
              <a:buChar char="•"/>
              <a:defRPr/>
            </a:pPr>
            <a:r>
              <a:rPr lang="en-US" sz="1000" dirty="0">
                <a:solidFill>
                  <a:srgbClr val="565656"/>
                </a:solidFill>
                <a:latin typeface="Calibri Light"/>
                <a:cs typeface="Calibri Light"/>
              </a:rPr>
              <a:t>Protoype Test Users    </a:t>
            </a:r>
          </a:p>
          <a:p>
            <a:pPr marL="171450" marR="0" lvl="0" indent="-171450" defTabSz="914400" eaLnBrk="1" fontAlgn="auto" latinLnBrk="0" hangingPunct="1">
              <a:lnSpc>
                <a:spcPct val="120000"/>
              </a:lnSpc>
              <a:spcBef>
                <a:spcPts val="0"/>
              </a:spcBef>
              <a:spcAft>
                <a:spcPts val="0"/>
              </a:spcAft>
              <a:buClr>
                <a:srgbClr val="FF0000"/>
              </a:buClr>
              <a:buSzTx/>
              <a:buFont typeface="Arial" panose="020B0604020202020204" pitchFamily="34" charset="0"/>
              <a:buChar char="•"/>
              <a:defRPr/>
            </a:pPr>
            <a:endParaRPr lang="en-US" sz="1000" dirty="0">
              <a:solidFill>
                <a:srgbClr val="565656"/>
              </a:solidFill>
              <a:latin typeface="Calibri Light"/>
              <a:cs typeface="Calibri Light"/>
            </a:endParaRPr>
          </a:p>
        </p:txBody>
      </p:sp>
      <p:sp>
        <p:nvSpPr>
          <p:cNvPr id="9" name="TextBox 8"/>
          <p:cNvSpPr txBox="1"/>
          <p:nvPr/>
        </p:nvSpPr>
        <p:spPr>
          <a:xfrm>
            <a:off x="4950230" y="2637581"/>
            <a:ext cx="4789515" cy="264688"/>
          </a:xfrm>
          <a:prstGeom prst="rect">
            <a:avLst/>
          </a:prstGeom>
          <a:noFill/>
        </p:spPr>
        <p:txBody>
          <a:bodyPr wrap="square" rtlCol="0">
            <a:spAutoFit/>
          </a:bodyPr>
          <a:lstStyle/>
          <a:p>
            <a:pPr marR="0" lvl="0" defTabSz="914400" eaLnBrk="1" fontAlgn="auto" latinLnBrk="0" hangingPunct="1">
              <a:lnSpc>
                <a:spcPct val="120000"/>
              </a:lnSpc>
              <a:spcBef>
                <a:spcPts val="0"/>
              </a:spcBef>
              <a:spcAft>
                <a:spcPts val="0"/>
              </a:spcAft>
              <a:buClr>
                <a:srgbClr val="FF0000"/>
              </a:buClr>
              <a:buSzTx/>
              <a:buFont typeface="Arial" charset="0"/>
              <a:buNone/>
              <a:defRPr/>
            </a:pPr>
            <a:r>
              <a:rPr lang="en-US" sz="1000" b="1" dirty="0">
                <a:solidFill>
                  <a:srgbClr val="565656"/>
                </a:solidFill>
                <a:latin typeface="Calibri Light"/>
                <a:cs typeface="Calibri Light"/>
              </a:rPr>
              <a:t>Lead</a:t>
            </a:r>
            <a:r>
              <a:rPr lang="en-US" sz="1000" dirty="0">
                <a:solidFill>
                  <a:srgbClr val="565656"/>
                </a:solidFill>
                <a:latin typeface="Calibri Light"/>
                <a:cs typeface="Calibri Light"/>
              </a:rPr>
              <a:t>: Callum Kidd – Project Manager</a:t>
            </a:r>
          </a:p>
        </p:txBody>
      </p:sp>
      <p:sp>
        <p:nvSpPr>
          <p:cNvPr id="10" name="TextBox 9"/>
          <p:cNvSpPr txBox="1"/>
          <p:nvPr/>
        </p:nvSpPr>
        <p:spPr>
          <a:xfrm>
            <a:off x="4950229" y="3763181"/>
            <a:ext cx="4789515" cy="1188018"/>
          </a:xfrm>
          <a:prstGeom prst="rect">
            <a:avLst/>
          </a:prstGeom>
          <a:noFill/>
        </p:spPr>
        <p:txBody>
          <a:bodyPr wrap="square" rtlCol="0">
            <a:spAutoFit/>
          </a:bodyPr>
          <a:lstStyle/>
          <a:p>
            <a:pPr marL="182880" indent="-182880">
              <a:lnSpc>
                <a:spcPct val="120000"/>
              </a:lnSpc>
              <a:buClr>
                <a:srgbClr val="FF0000"/>
              </a:buClr>
              <a:buFont typeface="Arial"/>
              <a:buChar char="•"/>
              <a:tabLst>
                <a:tab pos="120650" algn="l"/>
              </a:tabLst>
            </a:pPr>
            <a:r>
              <a:rPr lang="en-US" sz="1000" dirty="0">
                <a:solidFill>
                  <a:srgbClr val="565656"/>
                </a:solidFill>
                <a:latin typeface="Calibri Light"/>
                <a:cs typeface="Calibri Light"/>
              </a:rPr>
              <a:t>Personas, Point of View (POV) Statements</a:t>
            </a:r>
          </a:p>
          <a:p>
            <a:pPr marL="182880" indent="-182880">
              <a:lnSpc>
                <a:spcPct val="120000"/>
              </a:lnSpc>
              <a:buClr>
                <a:srgbClr val="FF0000"/>
              </a:buClr>
              <a:buFont typeface="Arial"/>
              <a:buChar char="•"/>
              <a:tabLst>
                <a:tab pos="120650" algn="l"/>
              </a:tabLst>
            </a:pPr>
            <a:r>
              <a:rPr lang="en-US" sz="1000" dirty="0">
                <a:solidFill>
                  <a:srgbClr val="565656"/>
                </a:solidFill>
                <a:latin typeface="Calibri Light"/>
                <a:cs typeface="Calibri Light"/>
              </a:rPr>
              <a:t>Storyboard</a:t>
            </a:r>
          </a:p>
          <a:p>
            <a:pPr marL="182880" indent="-182880">
              <a:lnSpc>
                <a:spcPct val="120000"/>
              </a:lnSpc>
              <a:buClr>
                <a:srgbClr val="FF0000"/>
              </a:buClr>
              <a:buFont typeface="Arial"/>
              <a:buChar char="•"/>
              <a:tabLst>
                <a:tab pos="120650" algn="l"/>
              </a:tabLst>
            </a:pPr>
            <a:r>
              <a:rPr lang="en-US" sz="1000" dirty="0">
                <a:solidFill>
                  <a:srgbClr val="565656"/>
                </a:solidFill>
                <a:latin typeface="Calibri Light"/>
                <a:cs typeface="Calibri Light"/>
              </a:rPr>
              <a:t>Prototype</a:t>
            </a:r>
          </a:p>
          <a:p>
            <a:pPr marL="182880" indent="-182880">
              <a:lnSpc>
                <a:spcPct val="120000"/>
              </a:lnSpc>
              <a:buClr>
                <a:srgbClr val="FF0000"/>
              </a:buClr>
              <a:buFont typeface="Arial"/>
              <a:buChar char="•"/>
              <a:tabLst>
                <a:tab pos="120650" algn="l"/>
              </a:tabLst>
            </a:pPr>
            <a:r>
              <a:rPr lang="en-US" sz="1000" dirty="0">
                <a:solidFill>
                  <a:srgbClr val="565656"/>
                </a:solidFill>
                <a:latin typeface="Calibri Light"/>
                <a:cs typeface="Calibri Light"/>
              </a:rPr>
              <a:t>Working software</a:t>
            </a:r>
          </a:p>
          <a:p>
            <a:pPr marL="182880" indent="-182880">
              <a:lnSpc>
                <a:spcPct val="120000"/>
              </a:lnSpc>
              <a:buClr>
                <a:srgbClr val="FF0000"/>
              </a:buClr>
              <a:buFont typeface="Arial"/>
              <a:buChar char="•"/>
              <a:tabLst>
                <a:tab pos="120650" algn="l"/>
              </a:tabLst>
            </a:pPr>
            <a:r>
              <a:rPr lang="en-US" sz="1000" dirty="0">
                <a:solidFill>
                  <a:srgbClr val="565656"/>
                </a:solidFill>
                <a:latin typeface="Calibri Light"/>
                <a:cs typeface="Calibri Light"/>
              </a:rPr>
              <a:t>Demo video presentation</a:t>
            </a:r>
          </a:p>
          <a:p>
            <a:pPr marL="182880" indent="-182880">
              <a:lnSpc>
                <a:spcPct val="120000"/>
              </a:lnSpc>
              <a:buClr>
                <a:srgbClr val="FF0000"/>
              </a:buClr>
              <a:buFont typeface="Arial"/>
              <a:buChar char="•"/>
              <a:tabLst>
                <a:tab pos="120650" algn="l"/>
              </a:tabLst>
            </a:pPr>
            <a:r>
              <a:rPr lang="en-US" sz="1000" dirty="0">
                <a:solidFill>
                  <a:srgbClr val="565656"/>
                </a:solidFill>
                <a:latin typeface="Calibri Light"/>
                <a:cs typeface="Calibri Light"/>
              </a:rPr>
              <a:t>Testing Report</a:t>
            </a:r>
          </a:p>
        </p:txBody>
      </p:sp>
      <p:sp>
        <p:nvSpPr>
          <p:cNvPr id="22" name="TextBox 21"/>
          <p:cNvSpPr txBox="1"/>
          <p:nvPr/>
        </p:nvSpPr>
        <p:spPr>
          <a:xfrm>
            <a:off x="330630" y="2282004"/>
            <a:ext cx="1861386" cy="276999"/>
          </a:xfrm>
          <a:prstGeom prst="rect">
            <a:avLst/>
          </a:prstGeom>
          <a:noFill/>
        </p:spPr>
        <p:txBody>
          <a:bodyPr wrap="square" rtlCol="0">
            <a:spAutoFit/>
          </a:bodyPr>
          <a:lstStyle/>
          <a:p>
            <a:pPr marL="182880" marR="0" lvl="0" indent="-182880" algn="l" defTabSz="509412" rtl="0" eaLnBrk="1" fontAlgn="auto" latinLnBrk="0" hangingPunct="1">
              <a:lnSpc>
                <a:spcPct val="120000"/>
              </a:lnSpc>
              <a:spcBef>
                <a:spcPts val="0"/>
              </a:spcBef>
              <a:spcAft>
                <a:spcPts val="0"/>
              </a:spcAft>
              <a:buClr>
                <a:srgbClr val="FF0000"/>
              </a:buClr>
              <a:buSzTx/>
              <a:buFont typeface="Arial"/>
              <a:buNone/>
              <a:tabLst>
                <a:tab pos="120650" algn="l"/>
              </a:tabLst>
              <a:defRPr/>
            </a:pPr>
            <a:r>
              <a:rPr lang="en-US" sz="1000" b="1" i="0" spc="70">
                <a:solidFill>
                  <a:srgbClr val="4A4A4A"/>
                </a:solidFill>
                <a:latin typeface="Calibri" charset="0"/>
                <a:ea typeface="Calibri" charset="0"/>
                <a:cs typeface="Calibri" charset="0"/>
              </a:rPr>
              <a:t>OVERALL GOAL</a:t>
            </a:r>
            <a:endParaRPr lang="en-US" sz="1000" b="1" i="0" spc="70" dirty="0">
              <a:solidFill>
                <a:srgbClr val="4A4A4A"/>
              </a:solidFill>
              <a:latin typeface="Calibri" charset="0"/>
              <a:ea typeface="Calibri" charset="0"/>
              <a:cs typeface="Calibri" charset="0"/>
            </a:endParaRPr>
          </a:p>
        </p:txBody>
      </p:sp>
      <p:sp>
        <p:nvSpPr>
          <p:cNvPr id="23" name="TextBox 22"/>
          <p:cNvSpPr txBox="1"/>
          <p:nvPr/>
        </p:nvSpPr>
        <p:spPr>
          <a:xfrm>
            <a:off x="337267" y="4623921"/>
            <a:ext cx="1861386" cy="276999"/>
          </a:xfrm>
          <a:prstGeom prst="rect">
            <a:avLst/>
          </a:prstGeom>
          <a:noFill/>
        </p:spPr>
        <p:txBody>
          <a:bodyPr wrap="square" rtlCol="0">
            <a:spAutoFit/>
          </a:bodyPr>
          <a:lstStyle/>
          <a:p>
            <a:pPr marL="182880" marR="0" lvl="0" indent="-182880" algn="l" defTabSz="509412" rtl="0" eaLnBrk="1" fontAlgn="auto" latinLnBrk="0" hangingPunct="1">
              <a:lnSpc>
                <a:spcPct val="120000"/>
              </a:lnSpc>
              <a:spcBef>
                <a:spcPts val="0"/>
              </a:spcBef>
              <a:spcAft>
                <a:spcPts val="0"/>
              </a:spcAft>
              <a:buClr>
                <a:srgbClr val="FF0000"/>
              </a:buClr>
              <a:buSzTx/>
              <a:buFont typeface="Arial"/>
              <a:buNone/>
              <a:tabLst>
                <a:tab pos="120650" algn="l"/>
              </a:tabLst>
              <a:defRPr/>
            </a:pPr>
            <a:r>
              <a:rPr lang="en-US" sz="1000" b="1" i="0" spc="70" dirty="0">
                <a:solidFill>
                  <a:srgbClr val="4A4A4A"/>
                </a:solidFill>
                <a:latin typeface="Calibri" charset="0"/>
                <a:ea typeface="Calibri" charset="0"/>
                <a:cs typeface="Calibri" charset="0"/>
              </a:rPr>
              <a:t>PROJECT SCOPE</a:t>
            </a:r>
          </a:p>
        </p:txBody>
      </p:sp>
      <p:sp>
        <p:nvSpPr>
          <p:cNvPr id="24" name="TextBox 23"/>
          <p:cNvSpPr txBox="1"/>
          <p:nvPr/>
        </p:nvSpPr>
        <p:spPr>
          <a:xfrm>
            <a:off x="4936971" y="2282003"/>
            <a:ext cx="1861386" cy="276999"/>
          </a:xfrm>
          <a:prstGeom prst="rect">
            <a:avLst/>
          </a:prstGeom>
          <a:noFill/>
        </p:spPr>
        <p:txBody>
          <a:bodyPr wrap="square" rtlCol="0">
            <a:spAutoFit/>
          </a:bodyPr>
          <a:lstStyle/>
          <a:p>
            <a:pPr marL="182880" marR="0" lvl="0" indent="-182880" algn="l" defTabSz="509412" rtl="0" eaLnBrk="1" fontAlgn="auto" latinLnBrk="0" hangingPunct="1">
              <a:lnSpc>
                <a:spcPct val="120000"/>
              </a:lnSpc>
              <a:spcBef>
                <a:spcPts val="0"/>
              </a:spcBef>
              <a:spcAft>
                <a:spcPts val="0"/>
              </a:spcAft>
              <a:buClr>
                <a:srgbClr val="FF0000"/>
              </a:buClr>
              <a:buSzTx/>
              <a:buFont typeface="Arial"/>
              <a:buNone/>
              <a:tabLst>
                <a:tab pos="120650" algn="l"/>
              </a:tabLst>
              <a:defRPr/>
            </a:pPr>
            <a:r>
              <a:rPr lang="en-US" sz="1000" b="1" i="0" spc="70" dirty="0">
                <a:solidFill>
                  <a:srgbClr val="4A4A4A"/>
                </a:solidFill>
                <a:latin typeface="Calibri" charset="0"/>
                <a:ea typeface="Calibri" charset="0"/>
                <a:cs typeface="Calibri" charset="0"/>
              </a:rPr>
              <a:t>PROJECT ORGANIZATION</a:t>
            </a:r>
          </a:p>
        </p:txBody>
      </p:sp>
      <p:sp>
        <p:nvSpPr>
          <p:cNvPr id="25" name="TextBox 24"/>
          <p:cNvSpPr txBox="1"/>
          <p:nvPr/>
        </p:nvSpPr>
        <p:spPr>
          <a:xfrm>
            <a:off x="4936971" y="3420773"/>
            <a:ext cx="1861386" cy="276999"/>
          </a:xfrm>
          <a:prstGeom prst="rect">
            <a:avLst/>
          </a:prstGeom>
          <a:noFill/>
        </p:spPr>
        <p:txBody>
          <a:bodyPr wrap="square" rtlCol="0">
            <a:spAutoFit/>
          </a:bodyPr>
          <a:lstStyle/>
          <a:p>
            <a:pPr marL="182880" marR="0" lvl="0" indent="-182880" algn="l" defTabSz="509412" rtl="0" eaLnBrk="1" fontAlgn="auto" latinLnBrk="0" hangingPunct="1">
              <a:lnSpc>
                <a:spcPct val="120000"/>
              </a:lnSpc>
              <a:spcBef>
                <a:spcPts val="0"/>
              </a:spcBef>
              <a:spcAft>
                <a:spcPts val="0"/>
              </a:spcAft>
              <a:buClr>
                <a:srgbClr val="FF0000"/>
              </a:buClr>
              <a:buSzTx/>
              <a:buFont typeface="Arial"/>
              <a:buNone/>
              <a:tabLst>
                <a:tab pos="120650" algn="l"/>
              </a:tabLst>
              <a:defRPr/>
            </a:pPr>
            <a:r>
              <a:rPr lang="en-US" sz="1000" b="1" i="0" spc="70" dirty="0">
                <a:solidFill>
                  <a:srgbClr val="4A4A4A"/>
                </a:solidFill>
                <a:latin typeface="Calibri" charset="0"/>
                <a:ea typeface="Calibri" charset="0"/>
                <a:cs typeface="Calibri" charset="0"/>
              </a:rPr>
              <a:t>PROJECT</a:t>
            </a:r>
            <a:r>
              <a:rPr lang="en-US" sz="1000" b="1" i="0" spc="70" baseline="0" dirty="0">
                <a:solidFill>
                  <a:srgbClr val="4A4A4A"/>
                </a:solidFill>
                <a:latin typeface="Calibri" charset="0"/>
                <a:ea typeface="Calibri" charset="0"/>
                <a:cs typeface="Calibri" charset="0"/>
              </a:rPr>
              <a:t> DELIVERABLES</a:t>
            </a:r>
            <a:endParaRPr lang="en-US" sz="1000" b="1" i="0" spc="70" dirty="0">
              <a:solidFill>
                <a:srgbClr val="4A4A4A"/>
              </a:solidFill>
              <a:latin typeface="Calibri" charset="0"/>
              <a:ea typeface="Calibri" charset="0"/>
              <a:cs typeface="Calibri" charset="0"/>
            </a:endParaRPr>
          </a:p>
        </p:txBody>
      </p:sp>
      <p:sp>
        <p:nvSpPr>
          <p:cNvPr id="26" name="TextBox 25"/>
          <p:cNvSpPr txBox="1"/>
          <p:nvPr/>
        </p:nvSpPr>
        <p:spPr>
          <a:xfrm>
            <a:off x="330630" y="6621345"/>
            <a:ext cx="1861386" cy="276999"/>
          </a:xfrm>
          <a:prstGeom prst="rect">
            <a:avLst/>
          </a:prstGeom>
          <a:noFill/>
        </p:spPr>
        <p:txBody>
          <a:bodyPr wrap="square" rtlCol="0">
            <a:spAutoFit/>
          </a:bodyPr>
          <a:lstStyle/>
          <a:p>
            <a:pPr marL="182880" marR="0" lvl="0" indent="-182880" algn="l" defTabSz="509412" rtl="0" eaLnBrk="1" fontAlgn="auto" latinLnBrk="0" hangingPunct="1">
              <a:lnSpc>
                <a:spcPct val="120000"/>
              </a:lnSpc>
              <a:spcBef>
                <a:spcPts val="0"/>
              </a:spcBef>
              <a:spcAft>
                <a:spcPts val="0"/>
              </a:spcAft>
              <a:buClr>
                <a:srgbClr val="FF0000"/>
              </a:buClr>
              <a:buSzTx/>
              <a:buFont typeface="Arial"/>
              <a:buNone/>
              <a:tabLst>
                <a:tab pos="120650" algn="l"/>
              </a:tabLst>
              <a:defRPr/>
            </a:pPr>
            <a:r>
              <a:rPr lang="en-US" sz="1000" b="1" i="0" spc="70" dirty="0">
                <a:solidFill>
                  <a:srgbClr val="4A4A4A"/>
                </a:solidFill>
                <a:latin typeface="Calibri" charset="0"/>
                <a:ea typeface="Calibri" charset="0"/>
                <a:cs typeface="Calibri" charset="0"/>
              </a:rPr>
              <a:t>PROJECT</a:t>
            </a:r>
            <a:r>
              <a:rPr lang="en-US" sz="1000" b="1" i="0" spc="70" baseline="0" dirty="0">
                <a:solidFill>
                  <a:srgbClr val="4A4A4A"/>
                </a:solidFill>
                <a:latin typeface="Calibri" charset="0"/>
                <a:ea typeface="Calibri" charset="0"/>
                <a:cs typeface="Calibri" charset="0"/>
              </a:rPr>
              <a:t> STAKEHOLDERS</a:t>
            </a:r>
            <a:endParaRPr lang="en-US" sz="1000" b="1" i="0" spc="70" dirty="0">
              <a:solidFill>
                <a:srgbClr val="4A4A4A"/>
              </a:solidFill>
              <a:latin typeface="Calibri" charset="0"/>
              <a:ea typeface="Calibri" charset="0"/>
              <a:cs typeface="Calibri" charset="0"/>
            </a:endParaRPr>
          </a:p>
        </p:txBody>
      </p:sp>
      <p:grpSp>
        <p:nvGrpSpPr>
          <p:cNvPr id="28" name="Group 27"/>
          <p:cNvGrpSpPr/>
          <p:nvPr/>
        </p:nvGrpSpPr>
        <p:grpSpPr>
          <a:xfrm>
            <a:off x="4936971" y="4902156"/>
            <a:ext cx="4965745" cy="604620"/>
            <a:chOff x="4936971" y="5267916"/>
            <a:chExt cx="4965745" cy="604620"/>
          </a:xfrm>
        </p:grpSpPr>
        <p:sp>
          <p:nvSpPr>
            <p:cNvPr id="14" name="TextBox 13"/>
            <p:cNvSpPr txBox="1"/>
            <p:nvPr/>
          </p:nvSpPr>
          <p:spPr>
            <a:xfrm>
              <a:off x="4950230" y="5632470"/>
              <a:ext cx="2682360" cy="240066"/>
            </a:xfrm>
            <a:prstGeom prst="rect">
              <a:avLst/>
            </a:prstGeom>
            <a:noFill/>
          </p:spPr>
          <p:txBody>
            <a:bodyPr wrap="square" rtlCol="0">
              <a:spAutoFit/>
            </a:bodyPr>
            <a:lstStyle/>
            <a:p>
              <a:pPr>
                <a:lnSpc>
                  <a:spcPct val="120000"/>
                </a:lnSpc>
                <a:buClr>
                  <a:srgbClr val="FF0000"/>
                </a:buClr>
                <a:tabLst>
                  <a:tab pos="120650" algn="l"/>
                </a:tabLst>
              </a:pPr>
              <a:r>
                <a:rPr lang="en-US" sz="800" dirty="0">
                  <a:solidFill>
                    <a:schemeClr val="bg1">
                      <a:lumMod val="65000"/>
                    </a:schemeClr>
                  </a:solidFill>
                  <a:latin typeface="Calibri Light"/>
                  <a:cs typeface="Calibri Light"/>
                </a:rPr>
                <a:t>Milestone</a:t>
              </a:r>
            </a:p>
          </p:txBody>
        </p:sp>
        <p:sp>
          <p:nvSpPr>
            <p:cNvPr id="15" name="TextBox 14"/>
            <p:cNvSpPr txBox="1"/>
            <p:nvPr/>
          </p:nvSpPr>
          <p:spPr>
            <a:xfrm>
              <a:off x="8775700" y="5632470"/>
              <a:ext cx="1127016" cy="240066"/>
            </a:xfrm>
            <a:prstGeom prst="rect">
              <a:avLst/>
            </a:prstGeom>
            <a:noFill/>
          </p:spPr>
          <p:txBody>
            <a:bodyPr wrap="square" rtlCol="0">
              <a:spAutoFit/>
            </a:bodyPr>
            <a:lstStyle/>
            <a:p>
              <a:pPr>
                <a:lnSpc>
                  <a:spcPct val="120000"/>
                </a:lnSpc>
                <a:buClr>
                  <a:srgbClr val="FF0000"/>
                </a:buClr>
                <a:tabLst>
                  <a:tab pos="120650" algn="l"/>
                </a:tabLst>
              </a:pPr>
              <a:r>
                <a:rPr lang="en-US" sz="800">
                  <a:solidFill>
                    <a:schemeClr val="bg1">
                      <a:lumMod val="65000"/>
                    </a:schemeClr>
                  </a:solidFill>
                  <a:latin typeface="Calibri Light"/>
                  <a:cs typeface="Calibri Light"/>
                </a:rPr>
                <a:t>Date</a:t>
              </a:r>
              <a:endParaRPr lang="en-US" sz="800" dirty="0">
                <a:solidFill>
                  <a:schemeClr val="bg1">
                    <a:lumMod val="65000"/>
                  </a:schemeClr>
                </a:solidFill>
                <a:latin typeface="Calibri Light"/>
                <a:cs typeface="Calibri Light"/>
              </a:endParaRPr>
            </a:p>
          </p:txBody>
        </p:sp>
        <p:sp>
          <p:nvSpPr>
            <p:cNvPr id="27" name="TextBox 26"/>
            <p:cNvSpPr txBox="1"/>
            <p:nvPr/>
          </p:nvSpPr>
          <p:spPr>
            <a:xfrm>
              <a:off x="4936971" y="5267916"/>
              <a:ext cx="1861386" cy="276999"/>
            </a:xfrm>
            <a:prstGeom prst="rect">
              <a:avLst/>
            </a:prstGeom>
            <a:noFill/>
          </p:spPr>
          <p:txBody>
            <a:bodyPr wrap="square" rtlCol="0">
              <a:spAutoFit/>
            </a:bodyPr>
            <a:lstStyle/>
            <a:p>
              <a:pPr marL="182880" marR="0" lvl="0" indent="-182880" algn="l" defTabSz="509412" rtl="0" eaLnBrk="1" fontAlgn="auto" latinLnBrk="0" hangingPunct="1">
                <a:lnSpc>
                  <a:spcPct val="120000"/>
                </a:lnSpc>
                <a:spcBef>
                  <a:spcPts val="0"/>
                </a:spcBef>
                <a:spcAft>
                  <a:spcPts val="0"/>
                </a:spcAft>
                <a:buClr>
                  <a:srgbClr val="FF0000"/>
                </a:buClr>
                <a:buSzTx/>
                <a:buFont typeface="Arial"/>
                <a:buNone/>
                <a:tabLst>
                  <a:tab pos="120650" algn="l"/>
                </a:tabLst>
                <a:defRPr/>
              </a:pPr>
              <a:r>
                <a:rPr lang="en-US" sz="1000" b="1" i="0" spc="70" dirty="0">
                  <a:solidFill>
                    <a:srgbClr val="4A4A4A"/>
                  </a:solidFill>
                  <a:latin typeface="Calibri" charset="0"/>
                  <a:ea typeface="Calibri" charset="0"/>
                  <a:cs typeface="Calibri" charset="0"/>
                </a:rPr>
                <a:t>MILESTONES</a:t>
              </a:r>
            </a:p>
          </p:txBody>
        </p:sp>
      </p:grpSp>
      <p:graphicFrame>
        <p:nvGraphicFramePr>
          <p:cNvPr id="46" name="Group 90"/>
          <p:cNvGraphicFramePr>
            <a:graphicFrameLocks noGrp="1"/>
          </p:cNvGraphicFramePr>
          <p:nvPr>
            <p:extLst>
              <p:ext uri="{D42A27DB-BD31-4B8C-83A1-F6EECF244321}">
                <p14:modId xmlns:p14="http://schemas.microsoft.com/office/powerpoint/2010/main" val="3840068618"/>
              </p:ext>
            </p:extLst>
          </p:nvPr>
        </p:nvGraphicFramePr>
        <p:xfrm>
          <a:off x="5007355" y="5542161"/>
          <a:ext cx="4719138" cy="2615278"/>
        </p:xfrm>
        <a:graphic>
          <a:graphicData uri="http://schemas.openxmlformats.org/drawingml/2006/table">
            <a:tbl>
              <a:tblPr/>
              <a:tblGrid>
                <a:gridCol w="3819145">
                  <a:extLst>
                    <a:ext uri="{9D8B030D-6E8A-4147-A177-3AD203B41FA5}">
                      <a16:colId xmlns:a16="http://schemas.microsoft.com/office/drawing/2014/main" val="20000"/>
                    </a:ext>
                  </a:extLst>
                </a:gridCol>
                <a:gridCol w="899993">
                  <a:extLst>
                    <a:ext uri="{9D8B030D-6E8A-4147-A177-3AD203B41FA5}">
                      <a16:colId xmlns:a16="http://schemas.microsoft.com/office/drawing/2014/main" val="20001"/>
                    </a:ext>
                  </a:extLst>
                </a:gridCol>
              </a:tblGrid>
              <a:tr h="242280">
                <a:tc>
                  <a:txBody>
                    <a:bodyPr/>
                    <a:lstStyle/>
                    <a:p>
                      <a:pPr marL="171450" indent="-171450">
                        <a:buClr>
                          <a:srgbClr val="FB0000"/>
                        </a:buClr>
                        <a:buFont typeface="Arial" charset="0"/>
                        <a:buChar char="•"/>
                      </a:pPr>
                      <a:r>
                        <a:rPr lang="en-US" sz="1000" kern="1200" baseline="0" dirty="0">
                          <a:solidFill>
                            <a:srgbClr val="5C5C5C"/>
                          </a:solidFill>
                          <a:latin typeface="Calibri" charset="0"/>
                          <a:ea typeface="Calibri" charset="0"/>
                          <a:cs typeface="Calibri" charset="0"/>
                        </a:rPr>
                        <a:t>Draft Review</a:t>
                      </a:r>
                    </a:p>
                    <a:p>
                      <a:pPr marL="171450" indent="-171450">
                        <a:buClr>
                          <a:srgbClr val="FB0000"/>
                        </a:buClr>
                        <a:buFont typeface="Arial" charset="0"/>
                        <a:buChar char="•"/>
                      </a:pPr>
                      <a:r>
                        <a:rPr lang="en-US" sz="1000" kern="1200" baseline="0" dirty="0">
                          <a:solidFill>
                            <a:srgbClr val="5C5C5C"/>
                          </a:solidFill>
                          <a:latin typeface="Calibri" charset="0"/>
                          <a:ea typeface="Calibri" charset="0"/>
                          <a:cs typeface="Calibri" charset="0"/>
                        </a:rPr>
                        <a:t>POV Statements approval</a:t>
                      </a:r>
                    </a:p>
                    <a:p>
                      <a:pPr marL="171450" indent="-171450">
                        <a:buClr>
                          <a:srgbClr val="FB0000"/>
                        </a:buClr>
                        <a:buFont typeface="Arial" charset="0"/>
                        <a:buChar char="•"/>
                      </a:pPr>
                      <a:r>
                        <a:rPr lang="en-US" sz="1000" kern="1200" baseline="0" dirty="0">
                          <a:solidFill>
                            <a:srgbClr val="5C5C5C"/>
                          </a:solidFill>
                          <a:latin typeface="Calibri" charset="0"/>
                          <a:ea typeface="Calibri" charset="0"/>
                          <a:cs typeface="Calibri" charset="0"/>
                        </a:rPr>
                        <a:t>Wireframes and Storyboard Completed</a:t>
                      </a:r>
                    </a:p>
                    <a:p>
                      <a:pPr marL="171450" indent="-171450">
                        <a:buClr>
                          <a:srgbClr val="FB0000"/>
                        </a:buClr>
                        <a:buFont typeface="Arial" charset="0"/>
                        <a:buChar char="•"/>
                      </a:pPr>
                      <a:r>
                        <a:rPr lang="en-US" sz="1000" kern="1200" baseline="0" dirty="0">
                          <a:solidFill>
                            <a:srgbClr val="5C5C5C"/>
                          </a:solidFill>
                          <a:latin typeface="Calibri" charset="0"/>
                          <a:ea typeface="Calibri" charset="0"/>
                          <a:cs typeface="Calibri" charset="0"/>
                        </a:rPr>
                        <a:t>Prototype Version 1 (SME Pulse V1)</a:t>
                      </a:r>
                    </a:p>
                    <a:p>
                      <a:pPr marL="171450" indent="-171450">
                        <a:buClr>
                          <a:srgbClr val="FB0000"/>
                        </a:buClr>
                        <a:buFont typeface="Arial" charset="0"/>
                        <a:buChar char="•"/>
                      </a:pPr>
                      <a:r>
                        <a:rPr lang="en-US" sz="1000" kern="1200" baseline="0" dirty="0">
                          <a:solidFill>
                            <a:srgbClr val="5C5C5C"/>
                          </a:solidFill>
                          <a:latin typeface="Calibri" charset="0"/>
                          <a:ea typeface="Calibri" charset="0"/>
                          <a:cs typeface="Calibri" charset="0"/>
                        </a:rPr>
                        <a:t>User Testing &amp; Feedback </a:t>
                      </a:r>
                    </a:p>
                    <a:p>
                      <a:pPr marL="171450" indent="-171450">
                        <a:buClr>
                          <a:srgbClr val="FB0000"/>
                        </a:buClr>
                        <a:buFont typeface="Arial" charset="0"/>
                        <a:buChar char="•"/>
                      </a:pPr>
                      <a:r>
                        <a:rPr lang="en-US" sz="1000" kern="1200" baseline="0" dirty="0">
                          <a:solidFill>
                            <a:srgbClr val="5C5C5C"/>
                          </a:solidFill>
                          <a:latin typeface="Calibri" charset="0"/>
                          <a:ea typeface="Calibri" charset="0"/>
                          <a:cs typeface="Calibri" charset="0"/>
                        </a:rPr>
                        <a:t>Final Prototype Complete</a:t>
                      </a:r>
                    </a:p>
                    <a:p>
                      <a:pPr marL="171450" indent="-171450">
                        <a:buClr>
                          <a:srgbClr val="FB0000"/>
                        </a:buClr>
                        <a:buFont typeface="Arial" charset="0"/>
                        <a:buChar char="•"/>
                      </a:pPr>
                      <a:r>
                        <a:rPr lang="en-US" sz="1000" kern="1200" baseline="0" dirty="0">
                          <a:solidFill>
                            <a:srgbClr val="5C5C5C"/>
                          </a:solidFill>
                          <a:latin typeface="Calibri" charset="0"/>
                          <a:ea typeface="Calibri" charset="0"/>
                          <a:cs typeface="Calibri" charset="0"/>
                        </a:rPr>
                        <a:t>Recorded Video Presentation Submitted</a:t>
                      </a: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r>
                        <a:rPr kumimoji="0" lang="en-US" sz="1000" b="0" i="0" u="none" strike="noStrike" cap="none" normalizeH="0" baseline="0" dirty="0">
                          <a:ln>
                            <a:noFill/>
                          </a:ln>
                          <a:solidFill>
                            <a:srgbClr val="5C5C5C"/>
                          </a:solidFill>
                          <a:effectLst/>
                          <a:latin typeface="Calibri" charset="0"/>
                          <a:ea typeface="Calibri" charset="0"/>
                          <a:cs typeface="Calibri" charset="0"/>
                        </a:rPr>
                        <a:t>02/02/26</a:t>
                      </a:r>
                    </a:p>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r>
                        <a:rPr kumimoji="0" lang="en-US" sz="1000" b="0" i="0" u="none" strike="noStrike" cap="none" normalizeH="0" baseline="0" dirty="0">
                          <a:ln>
                            <a:noFill/>
                          </a:ln>
                          <a:solidFill>
                            <a:srgbClr val="5C5C5C"/>
                          </a:solidFill>
                          <a:effectLst/>
                          <a:latin typeface="Calibri" charset="0"/>
                          <a:ea typeface="Calibri" charset="0"/>
                          <a:cs typeface="Calibri" charset="0"/>
                        </a:rPr>
                        <a:t>16/02/06</a:t>
                      </a:r>
                    </a:p>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r>
                        <a:rPr kumimoji="0" lang="en-US" sz="1000" b="0" i="0" u="none" strike="noStrike" cap="none" normalizeH="0" baseline="0" dirty="0">
                          <a:ln>
                            <a:noFill/>
                          </a:ln>
                          <a:solidFill>
                            <a:srgbClr val="5C5C5C"/>
                          </a:solidFill>
                          <a:effectLst/>
                          <a:latin typeface="Calibri" charset="0"/>
                          <a:ea typeface="Calibri" charset="0"/>
                          <a:cs typeface="Calibri" charset="0"/>
                        </a:rPr>
                        <a:t>22/02/06</a:t>
                      </a:r>
                    </a:p>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r>
                        <a:rPr kumimoji="0" lang="en-US" sz="1000" b="0" i="0" u="none" strike="noStrike" cap="none" normalizeH="0" baseline="0" dirty="0">
                          <a:ln>
                            <a:noFill/>
                          </a:ln>
                          <a:solidFill>
                            <a:srgbClr val="5C5C5C"/>
                          </a:solidFill>
                          <a:effectLst/>
                          <a:latin typeface="Calibri" charset="0"/>
                          <a:ea typeface="Calibri" charset="0"/>
                          <a:cs typeface="Calibri" charset="0"/>
                        </a:rPr>
                        <a:t>27/02/06</a:t>
                      </a:r>
                    </a:p>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r>
                        <a:rPr kumimoji="0" lang="en-US" sz="1000" b="0" i="0" u="none" strike="noStrike" cap="none" normalizeH="0" baseline="0" dirty="0">
                          <a:ln>
                            <a:noFill/>
                          </a:ln>
                          <a:solidFill>
                            <a:srgbClr val="5C5C5C"/>
                          </a:solidFill>
                          <a:effectLst/>
                          <a:latin typeface="Calibri" charset="0"/>
                          <a:ea typeface="Calibri" charset="0"/>
                          <a:cs typeface="Calibri" charset="0"/>
                        </a:rPr>
                        <a:t>09/03/06</a:t>
                      </a:r>
                    </a:p>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r>
                        <a:rPr kumimoji="0" lang="en-US" sz="1000" b="0" i="0" u="none" strike="noStrike" cap="none" normalizeH="0" baseline="0" dirty="0">
                          <a:ln>
                            <a:noFill/>
                          </a:ln>
                          <a:solidFill>
                            <a:srgbClr val="5C5C5C"/>
                          </a:solidFill>
                          <a:effectLst/>
                          <a:latin typeface="Calibri" charset="0"/>
                          <a:ea typeface="Calibri" charset="0"/>
                          <a:cs typeface="Calibri" charset="0"/>
                        </a:rPr>
                        <a:t>14/03/06</a:t>
                      </a:r>
                    </a:p>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endParaRPr kumimoji="0" lang="en-US" sz="1000" b="0" i="0" u="none" strike="noStrike" cap="none" normalizeH="0" baseline="0" dirty="0">
                        <a:ln>
                          <a:noFill/>
                        </a:ln>
                        <a:solidFill>
                          <a:srgbClr val="5C5C5C"/>
                        </a:solidFill>
                        <a:effectLst/>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9640">
                <a:tc>
                  <a:txBody>
                    <a:bodyPr/>
                    <a:lstStyle/>
                    <a:p>
                      <a:pPr marL="171450" marR="0" lvl="0" indent="-171450" algn="l" defTabSz="509412" rtl="0" eaLnBrk="1" fontAlgn="auto" latinLnBrk="0" hangingPunct="1">
                        <a:lnSpc>
                          <a:spcPct val="100000"/>
                        </a:lnSpc>
                        <a:spcBef>
                          <a:spcPts val="0"/>
                        </a:spcBef>
                        <a:spcAft>
                          <a:spcPts val="0"/>
                        </a:spcAft>
                        <a:buClr>
                          <a:srgbClr val="FB0000"/>
                        </a:buClr>
                        <a:buSzTx/>
                        <a:buFont typeface="Arial" charset="0"/>
                        <a:buNone/>
                        <a:tabLst/>
                        <a:defRPr/>
                      </a:pPr>
                      <a:endParaRPr lang="en-US" sz="1000" kern="1200" dirty="0">
                        <a:solidFill>
                          <a:srgbClr val="5C5C5C"/>
                        </a:solidFill>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endParaRPr kumimoji="0" lang="en-US" sz="1000" b="0" i="0" u="none" strike="noStrike" cap="none" normalizeH="0" baseline="0" dirty="0">
                        <a:ln>
                          <a:noFill/>
                        </a:ln>
                        <a:solidFill>
                          <a:srgbClr val="5C5C5C"/>
                        </a:solidFill>
                        <a:effectLst/>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9239">
                <a:tc>
                  <a:txBody>
                    <a:bodyPr/>
                    <a:lstStyle/>
                    <a:p>
                      <a:pPr marL="171450" indent="-171450">
                        <a:buClr>
                          <a:srgbClr val="FB0000"/>
                        </a:buClr>
                        <a:buFont typeface="Arial" charset="0"/>
                        <a:buChar char="•"/>
                      </a:pPr>
                      <a:endParaRPr lang="en-US" sz="1000" kern="1200" dirty="0">
                        <a:solidFill>
                          <a:srgbClr val="5C5C5C"/>
                        </a:solidFill>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defRPr/>
                      </a:pPr>
                      <a:endParaRPr kumimoji="0" lang="en-US" sz="1000" b="0" i="0" u="none" strike="noStrike" cap="none" normalizeH="0" baseline="0" dirty="0">
                        <a:ln>
                          <a:noFill/>
                        </a:ln>
                        <a:solidFill>
                          <a:srgbClr val="5C5C5C"/>
                        </a:solidFill>
                        <a:effectLst/>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9640">
                <a:tc>
                  <a:txBody>
                    <a:bodyPr/>
                    <a:lstStyle/>
                    <a:p>
                      <a:pPr marL="171450" indent="-171450">
                        <a:buClr>
                          <a:srgbClr val="FB0000"/>
                        </a:buClr>
                        <a:buFont typeface="Arial" charset="0"/>
                        <a:buChar char="•"/>
                      </a:pPr>
                      <a:endParaRPr lang="en-US" sz="1000" kern="1200" dirty="0">
                        <a:solidFill>
                          <a:srgbClr val="5C5C5C"/>
                        </a:solidFill>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defRPr/>
                      </a:pPr>
                      <a:endParaRPr kumimoji="0" lang="en-US" sz="1000" b="0" i="0" u="none" strike="noStrike" cap="none" normalizeH="0" baseline="0" dirty="0">
                        <a:ln>
                          <a:noFill/>
                        </a:ln>
                        <a:solidFill>
                          <a:srgbClr val="5C5C5C"/>
                        </a:solidFill>
                        <a:effectLst/>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9640">
                <a:tc>
                  <a:txBody>
                    <a:bodyPr/>
                    <a:lstStyle/>
                    <a:p>
                      <a:pPr marL="173038" marR="0" lvl="0" indent="-171450" algn="l" defTabSz="914400" rtl="0" eaLnBrk="1" fontAlgn="base" latinLnBrk="0" hangingPunct="1">
                        <a:lnSpc>
                          <a:spcPct val="100000"/>
                        </a:lnSpc>
                        <a:spcBef>
                          <a:spcPct val="20000"/>
                        </a:spcBef>
                        <a:spcAft>
                          <a:spcPct val="0"/>
                        </a:spcAft>
                        <a:buClr>
                          <a:srgbClr val="FB0000"/>
                        </a:buClr>
                        <a:buSzPct val="85000"/>
                        <a:buFont typeface="Arial" charset="0"/>
                        <a:buChar char="•"/>
                        <a:tabLst/>
                      </a:pPr>
                      <a:endParaRPr kumimoji="0" lang="en-US" sz="1000" b="0" i="0" u="none" strike="noStrike" cap="none" normalizeH="0" baseline="0" dirty="0">
                        <a:ln>
                          <a:noFill/>
                        </a:ln>
                        <a:solidFill>
                          <a:srgbClr val="5C5C5C"/>
                        </a:solidFill>
                        <a:effectLst/>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endParaRPr kumimoji="0" lang="en-US" sz="1000" b="0" i="0" u="none" strike="noStrike" cap="none" normalizeH="0" baseline="0" dirty="0">
                        <a:ln>
                          <a:noFill/>
                        </a:ln>
                        <a:solidFill>
                          <a:srgbClr val="5C5C5C"/>
                        </a:solidFill>
                        <a:effectLst/>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5439">
                <a:tc>
                  <a:txBody>
                    <a:bodyPr/>
                    <a:lstStyle/>
                    <a:p>
                      <a:pPr marL="173038" marR="0" lvl="0" indent="-171450" algn="l" defTabSz="914400" rtl="0" eaLnBrk="1" fontAlgn="base" latinLnBrk="0" hangingPunct="1">
                        <a:lnSpc>
                          <a:spcPct val="100000"/>
                        </a:lnSpc>
                        <a:spcBef>
                          <a:spcPct val="20000"/>
                        </a:spcBef>
                        <a:spcAft>
                          <a:spcPct val="0"/>
                        </a:spcAft>
                        <a:buClr>
                          <a:srgbClr val="FB0000"/>
                        </a:buClr>
                        <a:buSzPct val="85000"/>
                        <a:buFont typeface="Arial" charset="0"/>
                        <a:buChar char="•"/>
                        <a:tabLst/>
                      </a:pPr>
                      <a:endParaRPr kumimoji="0" lang="en-US" sz="1000" b="0" i="0" u="none" strike="noStrike" cap="none" normalizeH="0" baseline="0" dirty="0">
                        <a:ln>
                          <a:noFill/>
                        </a:ln>
                        <a:solidFill>
                          <a:srgbClr val="5C5C5C"/>
                        </a:solidFill>
                        <a:effectLst/>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20000"/>
                        </a:spcBef>
                        <a:spcAft>
                          <a:spcPct val="0"/>
                        </a:spcAft>
                        <a:buClr>
                          <a:schemeClr val="tx1"/>
                        </a:buClr>
                        <a:buSzPct val="85000"/>
                        <a:buFont typeface="Wingdings" pitchFamily="2" charset="2"/>
                        <a:buNone/>
                        <a:tabLst/>
                      </a:pPr>
                      <a:endParaRPr kumimoji="0" lang="en-US" sz="1000" b="0" i="0" u="none" strike="noStrike" cap="none" normalizeH="0" baseline="0" dirty="0">
                        <a:ln>
                          <a:noFill/>
                        </a:ln>
                        <a:solidFill>
                          <a:srgbClr val="5C5C5C"/>
                        </a:solidFill>
                        <a:effectLst/>
                        <a:latin typeface="Calibri" charset="0"/>
                        <a:ea typeface="Calibri" charset="0"/>
                        <a:cs typeface="Calibri" charset="0"/>
                      </a:endParaRPr>
                    </a:p>
                  </a:txBody>
                  <a:tcPr marL="36000" marR="36000" marT="36000" marB="360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51355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6614</TotalTime>
  <Words>258</Words>
  <Application>Microsoft Office PowerPoint</Application>
  <PresentationFormat>Custom</PresentationFormat>
  <Paragraphs>43</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Lato Light</vt:lpstr>
      <vt:lpstr>Wingdings</vt:lpstr>
      <vt:lpstr>Office Theme</vt:lpstr>
      <vt:lpstr>PowerPoint Presentation</vt:lpstr>
    </vt:vector>
  </TitlesOfParts>
  <Company>SAP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SAP SAP</dc:creator>
  <cp:lastModifiedBy>CALLUM KIDD - STUDENT</cp:lastModifiedBy>
  <cp:revision>59</cp:revision>
  <cp:lastPrinted>2016-03-02T23:32:34Z</cp:lastPrinted>
  <dcterms:created xsi:type="dcterms:W3CDTF">2015-09-08T15:52:45Z</dcterms:created>
  <dcterms:modified xsi:type="dcterms:W3CDTF">2026-02-16T17:20:10Z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-1327679321</vt:i4>
  </property>
  <property fmtid="{D5CDD505-2E9C-101B-9397-08002B2CF9AE}" pid="3" name="_NewReviewCycle">
    <vt:lpwstr/>
  </property>
  <property fmtid="{D5CDD505-2E9C-101B-9397-08002B2CF9AE}" pid="4" name="_EmailSubject">
    <vt:lpwstr>Proposal of new method card : "Agree on project scope"</vt:lpwstr>
  </property>
  <property fmtid="{D5CDD505-2E9C-101B-9397-08002B2CF9AE}" pid="5" name="_AuthorEmail">
    <vt:lpwstr>bassam.afif@sap.com</vt:lpwstr>
  </property>
  <property fmtid="{D5CDD505-2E9C-101B-9397-08002B2CF9AE}" pid="6" name="_AuthorEmailDisplayName">
    <vt:lpwstr>Afif, Bassam</vt:lpwstr>
  </property>
</Properties>
</file>